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hrikhand" charset="1" panose="02000000000000000000"/>
      <p:regular r:id="rId19"/>
    </p:embeddedFont>
    <p:embeddedFont>
      <p:font typeface="Quicksan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9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0883" y="150533"/>
            <a:ext cx="18006234" cy="9985933"/>
          </a:xfrm>
          <a:prstGeom prst="rect">
            <a:avLst/>
          </a:prstGeom>
          <a:solidFill>
            <a:srgbClr val="27272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992406" y="2933187"/>
            <a:ext cx="9351458" cy="533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10400" spc="-260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 Single-Cycle RISC-V Processor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4762500" cy="1144515"/>
            <a:chOff x="0" y="0"/>
            <a:chExt cx="3687359" cy="8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7359" cy="886139"/>
            </a:xfrm>
            <a:custGeom>
              <a:avLst/>
              <a:gdLst/>
              <a:ahLst/>
              <a:cxnLst/>
              <a:rect r="r" b="b" t="t" l="l"/>
              <a:pathLst>
                <a:path h="886139" w="3687359">
                  <a:moveTo>
                    <a:pt x="3562898" y="886139"/>
                  </a:moveTo>
                  <a:lnTo>
                    <a:pt x="124460" y="886139"/>
                  </a:lnTo>
                  <a:cubicBezTo>
                    <a:pt x="55880" y="886139"/>
                    <a:pt x="0" y="830259"/>
                    <a:pt x="0" y="7616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62899" y="0"/>
                  </a:lnTo>
                  <a:cubicBezTo>
                    <a:pt x="3631479" y="0"/>
                    <a:pt x="3687359" y="55880"/>
                    <a:pt x="3687359" y="124460"/>
                  </a:cubicBezTo>
                  <a:lnTo>
                    <a:pt x="3687359" y="761679"/>
                  </a:lnTo>
                  <a:cubicBezTo>
                    <a:pt x="3687359" y="830259"/>
                    <a:pt x="3631479" y="886139"/>
                    <a:pt x="3562899" y="886139"/>
                  </a:cubicBezTo>
                  <a:close/>
                </a:path>
              </a:pathLst>
            </a:custGeom>
            <a:solidFill>
              <a:srgbClr val="FFF55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62864" y="674690"/>
            <a:ext cx="6856730" cy="4828977"/>
            <a:chOff x="0" y="0"/>
            <a:chExt cx="5308814" cy="3738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08814" cy="3738829"/>
            </a:xfrm>
            <a:custGeom>
              <a:avLst/>
              <a:gdLst/>
              <a:ahLst/>
              <a:cxnLst/>
              <a:rect r="r" b="b" t="t" l="l"/>
              <a:pathLst>
                <a:path h="3738829" w="5308814">
                  <a:moveTo>
                    <a:pt x="5184353" y="3738828"/>
                  </a:moveTo>
                  <a:lnTo>
                    <a:pt x="124460" y="3738828"/>
                  </a:lnTo>
                  <a:cubicBezTo>
                    <a:pt x="55880" y="3738828"/>
                    <a:pt x="0" y="3682948"/>
                    <a:pt x="0" y="36143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184354" y="0"/>
                  </a:lnTo>
                  <a:cubicBezTo>
                    <a:pt x="5252934" y="0"/>
                    <a:pt x="5308814" y="55880"/>
                    <a:pt x="5308814" y="124460"/>
                  </a:cubicBezTo>
                  <a:lnTo>
                    <a:pt x="5308814" y="3614369"/>
                  </a:lnTo>
                  <a:cubicBezTo>
                    <a:pt x="5308814" y="3682948"/>
                    <a:pt x="5252934" y="3738829"/>
                    <a:pt x="5184354" y="3738829"/>
                  </a:cubicBezTo>
                  <a:close/>
                </a:path>
              </a:pathLst>
            </a:custGeom>
            <a:solidFill>
              <a:srgbClr val="FFF559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496800" y="7438282"/>
            <a:ext cx="4762500" cy="2848718"/>
          </a:xfrm>
          <a:custGeom>
            <a:avLst/>
            <a:gdLst/>
            <a:ahLst/>
            <a:cxnLst/>
            <a:rect r="r" b="b" t="t" l="l"/>
            <a:pathLst>
              <a:path h="2848718" w="4762500">
                <a:moveTo>
                  <a:pt x="0" y="0"/>
                </a:moveTo>
                <a:lnTo>
                  <a:pt x="4762500" y="0"/>
                </a:lnTo>
                <a:lnTo>
                  <a:pt x="4762500" y="2848718"/>
                </a:lnTo>
                <a:lnTo>
                  <a:pt x="0" y="284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1125" y="1079121"/>
            <a:ext cx="40576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CSCI311 COMPUTER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19746" y="1250571"/>
            <a:ext cx="9441105" cy="423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spc="-13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 Names And ID’S</a:t>
            </a: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3400"/>
              </a:lnSpc>
            </a:pPr>
            <a:r>
              <a:rPr lang="en-US" sz="3400" spc="-8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Wesal  Soliman   231001686 </a:t>
            </a:r>
          </a:p>
          <a:p>
            <a:pPr algn="l">
              <a:lnSpc>
                <a:spcPts val="3400"/>
              </a:lnSpc>
            </a:pPr>
            <a:r>
              <a:rPr lang="en-US" sz="3400" spc="-8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Rana Mohsen       231001397</a:t>
            </a:r>
          </a:p>
          <a:p>
            <a:pPr algn="l">
              <a:lnSpc>
                <a:spcPts val="3400"/>
              </a:lnSpc>
            </a:pPr>
            <a:r>
              <a:rPr lang="en-US" sz="3400" spc="-8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 Rama Mousa       231001373 </a:t>
            </a:r>
          </a:p>
          <a:p>
            <a:pPr algn="l">
              <a:lnSpc>
                <a:spcPts val="3400"/>
              </a:lnSpc>
            </a:pPr>
            <a:r>
              <a:rPr lang="en-US" sz="3400" spc="-8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Raneem Khaled 231001424</a:t>
            </a:r>
          </a:p>
          <a:p>
            <a:pPr algn="l">
              <a:lnSpc>
                <a:spcPts val="3400"/>
              </a:lnSpc>
            </a:pPr>
            <a:r>
              <a:rPr lang="en-US" sz="3400" spc="-85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Lina Ashraf Sediq 231001820</a:t>
            </a:r>
          </a:p>
          <a:p>
            <a:pPr algn="l" marL="0" indent="0" lvl="0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59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59513" y="3501039"/>
            <a:ext cx="9804172" cy="4857750"/>
            <a:chOff x="0" y="0"/>
            <a:chExt cx="13072229" cy="6477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072229" cy="6477000"/>
              <a:chOff x="0" y="0"/>
              <a:chExt cx="7590866" cy="37611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590866" cy="3761106"/>
              </a:xfrm>
              <a:custGeom>
                <a:avLst/>
                <a:gdLst/>
                <a:ahLst/>
                <a:cxnLst/>
                <a:rect r="r" b="b" t="t" l="l"/>
                <a:pathLst>
                  <a:path h="3761106" w="7590866">
                    <a:moveTo>
                      <a:pt x="7466405" y="3761106"/>
                    </a:moveTo>
                    <a:lnTo>
                      <a:pt x="124460" y="3761106"/>
                    </a:lnTo>
                    <a:cubicBezTo>
                      <a:pt x="55880" y="3761106"/>
                      <a:pt x="0" y="3705226"/>
                      <a:pt x="0" y="363664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7466405" y="0"/>
                    </a:lnTo>
                    <a:cubicBezTo>
                      <a:pt x="7534986" y="0"/>
                      <a:pt x="7590866" y="55880"/>
                      <a:pt x="7590866" y="124460"/>
                    </a:cubicBezTo>
                    <a:lnTo>
                      <a:pt x="7590866" y="3636646"/>
                    </a:lnTo>
                    <a:cubicBezTo>
                      <a:pt x="7590866" y="3705226"/>
                      <a:pt x="7534986" y="3761106"/>
                      <a:pt x="7466405" y="3761106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872671" y="494030"/>
              <a:ext cx="11159237" cy="5469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40" indent="-388620" lvl="1">
                <a:lnSpc>
                  <a:spcPts val="4680"/>
                </a:lnSpc>
                <a:buFont typeface="Arial"/>
                <a:buChar char="•"/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 A single-core RISC-V 64-bit processor</a:t>
              </a:r>
            </a:p>
            <a:p>
              <a:pPr algn="l" marL="777240" indent="-388620" lvl="1">
                <a:lnSpc>
                  <a:spcPts val="4680"/>
                </a:lnSpc>
                <a:buFont typeface="Arial"/>
                <a:buChar char="•"/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Supports R-type, I-type, S-type, and B-type instructions</a:t>
              </a:r>
            </a:p>
            <a:p>
              <a:pPr algn="l" marL="777240" indent="-388620" lvl="1">
                <a:lnSpc>
                  <a:spcPts val="4680"/>
                </a:lnSpc>
                <a:buFont typeface="Arial"/>
                <a:buChar char="•"/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Modular design for easy integration and testing</a:t>
              </a:r>
            </a:p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429792"/>
            <a:ext cx="668718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 CPU Design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0498" y="3698958"/>
            <a:ext cx="7353502" cy="3086100"/>
            <a:chOff x="0" y="0"/>
            <a:chExt cx="19367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6725" cy="812800"/>
            </a:xfrm>
            <a:custGeom>
              <a:avLst/>
              <a:gdLst/>
              <a:ahLst/>
              <a:cxnLst/>
              <a:rect r="r" b="b" t="t" l="l"/>
              <a:pathLst>
                <a:path h="812800" w="1936725">
                  <a:moveTo>
                    <a:pt x="26321" y="0"/>
                  </a:moveTo>
                  <a:lnTo>
                    <a:pt x="1910404" y="0"/>
                  </a:lnTo>
                  <a:cubicBezTo>
                    <a:pt x="1917385" y="0"/>
                    <a:pt x="1924080" y="2773"/>
                    <a:pt x="1929016" y="7709"/>
                  </a:cubicBezTo>
                  <a:cubicBezTo>
                    <a:pt x="1933952" y="12645"/>
                    <a:pt x="1936725" y="19340"/>
                    <a:pt x="1936725" y="26321"/>
                  </a:cubicBezTo>
                  <a:lnTo>
                    <a:pt x="1936725" y="786479"/>
                  </a:lnTo>
                  <a:cubicBezTo>
                    <a:pt x="1936725" y="801016"/>
                    <a:pt x="1924941" y="812800"/>
                    <a:pt x="1910404" y="812800"/>
                  </a:cubicBezTo>
                  <a:lnTo>
                    <a:pt x="26321" y="812800"/>
                  </a:lnTo>
                  <a:cubicBezTo>
                    <a:pt x="11784" y="812800"/>
                    <a:pt x="0" y="801016"/>
                    <a:pt x="0" y="786479"/>
                  </a:cubicBezTo>
                  <a:lnTo>
                    <a:pt x="0" y="26321"/>
                  </a:lnTo>
                  <a:cubicBezTo>
                    <a:pt x="0" y="11784"/>
                    <a:pt x="11784" y="0"/>
                    <a:pt x="26321" y="0"/>
                  </a:cubicBezTo>
                  <a:close/>
                </a:path>
              </a:pathLst>
            </a:custGeom>
            <a:solidFill>
              <a:srgbClr val="E59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3672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37120" y="4033564"/>
            <a:ext cx="2522623" cy="2416887"/>
            <a:chOff x="0" y="0"/>
            <a:chExt cx="664395" cy="6365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4395" cy="636546"/>
            </a:xfrm>
            <a:custGeom>
              <a:avLst/>
              <a:gdLst/>
              <a:ahLst/>
              <a:cxnLst/>
              <a:rect r="r" b="b" t="t" l="l"/>
              <a:pathLst>
                <a:path h="636546" w="664395">
                  <a:moveTo>
                    <a:pt x="76725" y="0"/>
                  </a:moveTo>
                  <a:lnTo>
                    <a:pt x="587670" y="0"/>
                  </a:lnTo>
                  <a:cubicBezTo>
                    <a:pt x="630044" y="0"/>
                    <a:pt x="664395" y="34351"/>
                    <a:pt x="664395" y="76725"/>
                  </a:cubicBezTo>
                  <a:lnTo>
                    <a:pt x="664395" y="559822"/>
                  </a:lnTo>
                  <a:cubicBezTo>
                    <a:pt x="664395" y="602196"/>
                    <a:pt x="630044" y="636546"/>
                    <a:pt x="587670" y="636546"/>
                  </a:cubicBezTo>
                  <a:lnTo>
                    <a:pt x="76725" y="636546"/>
                  </a:lnTo>
                  <a:cubicBezTo>
                    <a:pt x="34351" y="636546"/>
                    <a:pt x="0" y="602196"/>
                    <a:pt x="0" y="559822"/>
                  </a:cubicBezTo>
                  <a:lnTo>
                    <a:pt x="0" y="76725"/>
                  </a:lnTo>
                  <a:cubicBezTo>
                    <a:pt x="0" y="34351"/>
                    <a:pt x="34351" y="0"/>
                    <a:pt x="76725" y="0"/>
                  </a:cubicBezTo>
                  <a:close/>
                </a:path>
              </a:pathLst>
            </a:custGeom>
            <a:solidFill>
              <a:srgbClr val="2C34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64395" cy="684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74754" y="4033564"/>
            <a:ext cx="2522623" cy="2416887"/>
            <a:chOff x="0" y="0"/>
            <a:chExt cx="664395" cy="6365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4395" cy="636546"/>
            </a:xfrm>
            <a:custGeom>
              <a:avLst/>
              <a:gdLst/>
              <a:ahLst/>
              <a:cxnLst/>
              <a:rect r="r" b="b" t="t" l="l"/>
              <a:pathLst>
                <a:path h="636546" w="664395">
                  <a:moveTo>
                    <a:pt x="76725" y="0"/>
                  </a:moveTo>
                  <a:lnTo>
                    <a:pt x="587670" y="0"/>
                  </a:lnTo>
                  <a:cubicBezTo>
                    <a:pt x="630044" y="0"/>
                    <a:pt x="664395" y="34351"/>
                    <a:pt x="664395" y="76725"/>
                  </a:cubicBezTo>
                  <a:lnTo>
                    <a:pt x="664395" y="559822"/>
                  </a:lnTo>
                  <a:cubicBezTo>
                    <a:pt x="664395" y="602196"/>
                    <a:pt x="630044" y="636546"/>
                    <a:pt x="587670" y="636546"/>
                  </a:cubicBezTo>
                  <a:lnTo>
                    <a:pt x="76725" y="636546"/>
                  </a:lnTo>
                  <a:cubicBezTo>
                    <a:pt x="34351" y="636546"/>
                    <a:pt x="0" y="602196"/>
                    <a:pt x="0" y="559822"/>
                  </a:cubicBezTo>
                  <a:lnTo>
                    <a:pt x="0" y="76725"/>
                  </a:lnTo>
                  <a:cubicBezTo>
                    <a:pt x="0" y="34351"/>
                    <a:pt x="34351" y="0"/>
                    <a:pt x="76725" y="0"/>
                  </a:cubicBezTo>
                  <a:close/>
                </a:path>
              </a:pathLst>
            </a:custGeom>
            <a:solidFill>
              <a:srgbClr val="2C346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4395" cy="684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759744" y="4881746"/>
            <a:ext cx="1415011" cy="0"/>
          </a:xfrm>
          <a:prstGeom prst="line">
            <a:avLst/>
          </a:prstGeom>
          <a:ln cap="flat" w="95250">
            <a:solidFill>
              <a:srgbClr val="A0F8E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>
            <a:off x="4759744" y="5602269"/>
            <a:ext cx="1415011" cy="0"/>
          </a:xfrm>
          <a:prstGeom prst="line">
            <a:avLst/>
          </a:prstGeom>
          <a:ln cap="flat" w="95250">
            <a:solidFill>
              <a:srgbClr val="A0F8EE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237120" y="2264949"/>
            <a:ext cx="2522623" cy="805359"/>
            <a:chOff x="0" y="0"/>
            <a:chExt cx="664395" cy="212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4395" cy="212111"/>
            </a:xfrm>
            <a:custGeom>
              <a:avLst/>
              <a:gdLst/>
              <a:ahLst/>
              <a:cxnLst/>
              <a:rect r="r" b="b" t="t" l="l"/>
              <a:pathLst>
                <a:path h="212111" w="664395">
                  <a:moveTo>
                    <a:pt x="76725" y="0"/>
                  </a:moveTo>
                  <a:lnTo>
                    <a:pt x="587670" y="0"/>
                  </a:lnTo>
                  <a:cubicBezTo>
                    <a:pt x="630044" y="0"/>
                    <a:pt x="664395" y="34351"/>
                    <a:pt x="664395" y="76725"/>
                  </a:cubicBezTo>
                  <a:lnTo>
                    <a:pt x="664395" y="135386"/>
                  </a:lnTo>
                  <a:cubicBezTo>
                    <a:pt x="664395" y="177760"/>
                    <a:pt x="630044" y="212111"/>
                    <a:pt x="587670" y="212111"/>
                  </a:cubicBezTo>
                  <a:lnTo>
                    <a:pt x="76725" y="212111"/>
                  </a:lnTo>
                  <a:cubicBezTo>
                    <a:pt x="34351" y="212111"/>
                    <a:pt x="0" y="177760"/>
                    <a:pt x="0" y="135386"/>
                  </a:cubicBezTo>
                  <a:lnTo>
                    <a:pt x="0" y="76725"/>
                  </a:lnTo>
                  <a:cubicBezTo>
                    <a:pt x="0" y="34351"/>
                    <a:pt x="34351" y="0"/>
                    <a:pt x="76725" y="0"/>
                  </a:cubicBezTo>
                  <a:close/>
                </a:path>
              </a:pathLst>
            </a:custGeom>
            <a:solidFill>
              <a:srgbClr val="2C346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64395" cy="259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3498432" y="3070308"/>
            <a:ext cx="0" cy="963256"/>
          </a:xfrm>
          <a:prstGeom prst="line">
            <a:avLst/>
          </a:prstGeom>
          <a:ln cap="flat" w="95250">
            <a:solidFill>
              <a:srgbClr val="2C346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>
            <a:off x="3498432" y="6450451"/>
            <a:ext cx="0" cy="963256"/>
          </a:xfrm>
          <a:prstGeom prst="line">
            <a:avLst/>
          </a:prstGeom>
          <a:ln cap="flat" w="95250">
            <a:solidFill>
              <a:srgbClr val="2C346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2237120" y="7413708"/>
            <a:ext cx="2522623" cy="805359"/>
            <a:chOff x="0" y="0"/>
            <a:chExt cx="664395" cy="212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4395" cy="212111"/>
            </a:xfrm>
            <a:custGeom>
              <a:avLst/>
              <a:gdLst/>
              <a:ahLst/>
              <a:cxnLst/>
              <a:rect r="r" b="b" t="t" l="l"/>
              <a:pathLst>
                <a:path h="212111" w="664395">
                  <a:moveTo>
                    <a:pt x="76725" y="0"/>
                  </a:moveTo>
                  <a:lnTo>
                    <a:pt x="587670" y="0"/>
                  </a:lnTo>
                  <a:cubicBezTo>
                    <a:pt x="630044" y="0"/>
                    <a:pt x="664395" y="34351"/>
                    <a:pt x="664395" y="76725"/>
                  </a:cubicBezTo>
                  <a:lnTo>
                    <a:pt x="664395" y="135386"/>
                  </a:lnTo>
                  <a:cubicBezTo>
                    <a:pt x="664395" y="177760"/>
                    <a:pt x="630044" y="212111"/>
                    <a:pt x="587670" y="212111"/>
                  </a:cubicBezTo>
                  <a:lnTo>
                    <a:pt x="76725" y="212111"/>
                  </a:lnTo>
                  <a:cubicBezTo>
                    <a:pt x="34351" y="212111"/>
                    <a:pt x="0" y="177760"/>
                    <a:pt x="0" y="135386"/>
                  </a:cubicBezTo>
                  <a:lnTo>
                    <a:pt x="0" y="76725"/>
                  </a:lnTo>
                  <a:cubicBezTo>
                    <a:pt x="0" y="34351"/>
                    <a:pt x="34351" y="0"/>
                    <a:pt x="76725" y="0"/>
                  </a:cubicBezTo>
                  <a:close/>
                </a:path>
              </a:pathLst>
            </a:custGeom>
            <a:solidFill>
              <a:srgbClr val="2C346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64395" cy="259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22884" y="4865853"/>
            <a:ext cx="1351096" cy="1351096"/>
          </a:xfrm>
          <a:custGeom>
            <a:avLst/>
            <a:gdLst/>
            <a:ahLst/>
            <a:cxnLst/>
            <a:rect r="r" b="b" t="t" l="l"/>
            <a:pathLst>
              <a:path h="1351096" w="1351096">
                <a:moveTo>
                  <a:pt x="0" y="0"/>
                </a:moveTo>
                <a:lnTo>
                  <a:pt x="1351096" y="0"/>
                </a:lnTo>
                <a:lnTo>
                  <a:pt x="1351096" y="1351096"/>
                </a:lnTo>
                <a:lnTo>
                  <a:pt x="0" y="1351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45491" y="4251173"/>
            <a:ext cx="1581150" cy="629585"/>
          </a:xfrm>
          <a:custGeom>
            <a:avLst/>
            <a:gdLst/>
            <a:ahLst/>
            <a:cxnLst/>
            <a:rect r="r" b="b" t="t" l="l"/>
            <a:pathLst>
              <a:path h="629585" w="1581150">
                <a:moveTo>
                  <a:pt x="0" y="0"/>
                </a:moveTo>
                <a:lnTo>
                  <a:pt x="1581150" y="0"/>
                </a:lnTo>
                <a:lnTo>
                  <a:pt x="1581150" y="629585"/>
                </a:lnTo>
                <a:lnTo>
                  <a:pt x="0" y="62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917515" y="2535537"/>
            <a:ext cx="5532090" cy="727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 Control Unit (CUpALUControl)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Generates control signals for CPU operation: RegWrite, MemRead, MemWrite, ALUSrc, MemToReg, Branch, Jump, ALUControl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Decodes instructions using opcode, funct3, funct7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Merges main control and ALU control in one module</a:t>
            </a:r>
          </a:p>
          <a:p>
            <a:pPr algn="l">
              <a:lnSpc>
                <a:spcPts val="4499"/>
              </a:lnSpc>
            </a:pP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141961" y="229228"/>
            <a:ext cx="5532090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Modules Used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9906" y="3786752"/>
            <a:ext cx="5532090" cy="446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Program Counter (PC) updates every clock cycle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Calculates branch target addresses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Selects next PC using branching/jump logic</a:t>
            </a:r>
          </a:p>
          <a:p>
            <a:pPr algn="l">
              <a:lnSpc>
                <a:spcPts val="4499"/>
              </a:lnSpc>
            </a:pP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82732" y="973867"/>
            <a:ext cx="6075015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5700" spc="-142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PC &amp; Branch Logic </a:t>
            </a:r>
          </a:p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833199" y="3434562"/>
            <a:ext cx="648859" cy="7892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82058" y="2645351"/>
            <a:ext cx="1463590" cy="1578422"/>
            <a:chOff x="0" y="0"/>
            <a:chExt cx="385472" cy="415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8692" y="1426151"/>
            <a:ext cx="553209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ALU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0376" y="3840892"/>
            <a:ext cx="5532090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Performs arithmetic and logic operations: add, sub, and, or, xor, sll, srl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Inputs: two operands, ALUControl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Outputs: result, zero flag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Tested with a dedicated ALU testbench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520376" y="3522607"/>
            <a:ext cx="5532090" cy="19050"/>
          </a:xfrm>
          <a:prstGeom prst="line">
            <a:avLst/>
          </a:prstGeom>
          <a:ln cap="flat" w="3810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>
            <a:off x="13833199" y="3434562"/>
            <a:ext cx="648859" cy="7892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82058" y="2645351"/>
            <a:ext cx="1463590" cy="1578422"/>
            <a:chOff x="0" y="0"/>
            <a:chExt cx="385472" cy="4157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4156" y="1426151"/>
            <a:ext cx="5532090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Register File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056" y="4652147"/>
            <a:ext cx="5532090" cy="472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32 general-purpose registers (x0 always 0)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Two read ports, one write port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Synchronous write, asynchronous read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Reads operands for ALU and writes back results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833199" y="3434562"/>
            <a:ext cx="648859" cy="7892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82058" y="2645351"/>
            <a:ext cx="1463590" cy="1578422"/>
            <a:chOff x="0" y="0"/>
            <a:chExt cx="385472" cy="415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4215" y="2035391"/>
            <a:ext cx="5532090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sz="5200" spc="-13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Immediate Generator (ImmGen)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94215" y="5156283"/>
            <a:ext cx="5532090" cy="263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Extracts and sign-extends immediate values from instructions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Supports R, I, S, B, U, J types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833199" y="3115362"/>
            <a:ext cx="3060822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894021" y="2326151"/>
            <a:ext cx="1463590" cy="1578422"/>
            <a:chOff x="0" y="0"/>
            <a:chExt cx="385472" cy="415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FFF559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6578"/>
            <a:ext cx="5532090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0"/>
              </a:lnSpc>
              <a:spcBef>
                <a:spcPct val="0"/>
              </a:spcBef>
            </a:pPr>
            <a:r>
              <a:rPr lang="en-US" sz="5800" spc="-145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Instruction Memory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51782"/>
            <a:ext cx="553209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Stores preloaded instructions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Word-aligned addressing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Supplies instructions to the CPU at current PC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833199" y="3434562"/>
            <a:ext cx="648859" cy="7892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82058" y="2645351"/>
            <a:ext cx="1463590" cy="1578422"/>
            <a:chOff x="0" y="0"/>
            <a:chExt cx="385472" cy="415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28700" y="5196452"/>
            <a:ext cx="553209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0"/>
              </a:lnSpc>
              <a:spcBef>
                <a:spcPct val="0"/>
              </a:spcBef>
            </a:pPr>
            <a:r>
              <a:rPr lang="en-US" sz="5800" spc="-145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Data Memory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766713"/>
            <a:ext cx="5532090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Supports ld (load) and sd (store) instructions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Reads and writes data during execution</a:t>
            </a:r>
          </a:p>
          <a:p>
            <a:pPr algn="l">
              <a:lnSpc>
                <a:spcPts val="4199"/>
              </a:lnSpc>
            </a:pP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005" y="815187"/>
            <a:ext cx="5532090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0"/>
              </a:lnSpc>
              <a:spcBef>
                <a:spcPct val="0"/>
              </a:spcBef>
            </a:pPr>
            <a:r>
              <a:rPr lang="en-US" sz="5800" spc="-145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 CPU Top-Level (cpu_top)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254018"/>
            <a:ext cx="5532090" cy="472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Integrates all modules: ALU, Control, Register File, ImmGen, Memory, Branch Logic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Handles instruction sequencing and data flow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Tested with full CPU simulation</a:t>
            </a:r>
          </a:p>
          <a:p>
            <a:pPr algn="l">
              <a:lnSpc>
                <a:spcPts val="44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963272" y="311536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963272" y="3926617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963272" y="4737872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963272" y="554912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963272" y="6360383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963272" y="7171638"/>
            <a:ext cx="6930749" cy="0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39943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21068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302194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833199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44454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5455710" y="1678125"/>
            <a:ext cx="0" cy="6930749"/>
          </a:xfrm>
          <a:prstGeom prst="line">
            <a:avLst/>
          </a:prstGeom>
          <a:ln cap="rnd" w="38100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729182" y="2445110"/>
            <a:ext cx="5396780" cy="5396780"/>
            <a:chOff x="0" y="0"/>
            <a:chExt cx="1331444" cy="1331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35864" y="0"/>
                  </a:moveTo>
                  <a:lnTo>
                    <a:pt x="1295580" y="0"/>
                  </a:lnTo>
                  <a:cubicBezTo>
                    <a:pt x="1305092" y="0"/>
                    <a:pt x="1314214" y="3778"/>
                    <a:pt x="1320939" y="10504"/>
                  </a:cubicBezTo>
                  <a:cubicBezTo>
                    <a:pt x="1327665" y="17230"/>
                    <a:pt x="1331444" y="26352"/>
                    <a:pt x="1331444" y="35864"/>
                  </a:cubicBezTo>
                  <a:lnTo>
                    <a:pt x="1331444" y="1295580"/>
                  </a:lnTo>
                  <a:cubicBezTo>
                    <a:pt x="1331444" y="1305092"/>
                    <a:pt x="1327665" y="1314214"/>
                    <a:pt x="1320939" y="1320939"/>
                  </a:cubicBezTo>
                  <a:cubicBezTo>
                    <a:pt x="1314214" y="1327665"/>
                    <a:pt x="1305092" y="1331444"/>
                    <a:pt x="1295580" y="1331444"/>
                  </a:cubicBezTo>
                  <a:lnTo>
                    <a:pt x="35864" y="1331444"/>
                  </a:lnTo>
                  <a:cubicBezTo>
                    <a:pt x="26352" y="1331444"/>
                    <a:pt x="17230" y="1327665"/>
                    <a:pt x="10504" y="1320939"/>
                  </a:cubicBezTo>
                  <a:cubicBezTo>
                    <a:pt x="3778" y="1314214"/>
                    <a:pt x="0" y="1305092"/>
                    <a:pt x="0" y="1295580"/>
                  </a:cubicBezTo>
                  <a:lnTo>
                    <a:pt x="0" y="35864"/>
                  </a:lnTo>
                  <a:cubicBezTo>
                    <a:pt x="0" y="26352"/>
                    <a:pt x="3778" y="17230"/>
                    <a:pt x="10504" y="10504"/>
                  </a:cubicBezTo>
                  <a:cubicBezTo>
                    <a:pt x="17230" y="3778"/>
                    <a:pt x="26352" y="0"/>
                    <a:pt x="35864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373086" y="3115362"/>
            <a:ext cx="648859" cy="11084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833199" y="3434562"/>
            <a:ext cx="648859" cy="789211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186783" y="5012984"/>
            <a:ext cx="711699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723193" y="4223773"/>
            <a:ext cx="1463590" cy="1578422"/>
            <a:chOff x="0" y="0"/>
            <a:chExt cx="385472" cy="415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09496" y="2645351"/>
            <a:ext cx="1463590" cy="3156844"/>
            <a:chOff x="0" y="0"/>
            <a:chExt cx="385472" cy="831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472" cy="831432"/>
            </a:xfrm>
            <a:custGeom>
              <a:avLst/>
              <a:gdLst/>
              <a:ahLst/>
              <a:cxnLst/>
              <a:rect r="r" b="b" t="t" l="l"/>
              <a:pathLst>
                <a:path h="831432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699190"/>
                  </a:lnTo>
                  <a:cubicBezTo>
                    <a:pt x="385472" y="772225"/>
                    <a:pt x="326265" y="831432"/>
                    <a:pt x="253230" y="831432"/>
                  </a:cubicBezTo>
                  <a:lnTo>
                    <a:pt x="132242" y="831432"/>
                  </a:lnTo>
                  <a:cubicBezTo>
                    <a:pt x="59207" y="831432"/>
                    <a:pt x="0" y="772225"/>
                    <a:pt x="0" y="699190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5472" cy="87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82058" y="2645351"/>
            <a:ext cx="1463590" cy="1578422"/>
            <a:chOff x="0" y="0"/>
            <a:chExt cx="385472" cy="415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472" cy="415716"/>
            </a:xfrm>
            <a:custGeom>
              <a:avLst/>
              <a:gdLst/>
              <a:ahLst/>
              <a:cxnLst/>
              <a:rect r="r" b="b" t="t" l="l"/>
              <a:pathLst>
                <a:path h="415716" w="385472">
                  <a:moveTo>
                    <a:pt x="132242" y="0"/>
                  </a:moveTo>
                  <a:lnTo>
                    <a:pt x="253230" y="0"/>
                  </a:lnTo>
                  <a:cubicBezTo>
                    <a:pt x="326265" y="0"/>
                    <a:pt x="385472" y="59207"/>
                    <a:pt x="385472" y="132242"/>
                  </a:cubicBezTo>
                  <a:lnTo>
                    <a:pt x="385472" y="283474"/>
                  </a:lnTo>
                  <a:cubicBezTo>
                    <a:pt x="385472" y="356509"/>
                    <a:pt x="326265" y="415716"/>
                    <a:pt x="253230" y="415716"/>
                  </a:cubicBezTo>
                  <a:lnTo>
                    <a:pt x="132242" y="415716"/>
                  </a:lnTo>
                  <a:cubicBezTo>
                    <a:pt x="59207" y="415716"/>
                    <a:pt x="0" y="356509"/>
                    <a:pt x="0" y="283474"/>
                  </a:cubicBezTo>
                  <a:lnTo>
                    <a:pt x="0" y="132242"/>
                  </a:lnTo>
                  <a:cubicBezTo>
                    <a:pt x="0" y="59207"/>
                    <a:pt x="59207" y="0"/>
                    <a:pt x="1322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85472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145991" y="5802195"/>
            <a:ext cx="457200" cy="1050242"/>
          </a:xfrm>
          <a:prstGeom prst="line">
            <a:avLst/>
          </a:prstGeom>
          <a:ln cap="flat" w="95250">
            <a:solidFill>
              <a:srgbClr val="C87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603191" y="6063227"/>
            <a:ext cx="761529" cy="1578422"/>
            <a:chOff x="0" y="0"/>
            <a:chExt cx="200567" cy="415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34986" y="6063227"/>
            <a:ext cx="761529" cy="1578422"/>
            <a:chOff x="0" y="0"/>
            <a:chExt cx="200567" cy="4157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46605" y="6063227"/>
            <a:ext cx="761529" cy="1578422"/>
            <a:chOff x="0" y="0"/>
            <a:chExt cx="200567" cy="41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49253" y="6063227"/>
            <a:ext cx="761529" cy="1578422"/>
            <a:chOff x="0" y="0"/>
            <a:chExt cx="200567" cy="415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55982" y="6063227"/>
            <a:ext cx="761529" cy="1578422"/>
            <a:chOff x="0" y="0"/>
            <a:chExt cx="200567" cy="41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567" cy="415716"/>
            </a:xfrm>
            <a:custGeom>
              <a:avLst/>
              <a:gdLst/>
              <a:ahLst/>
              <a:cxnLst/>
              <a:rect r="r" b="b" t="t" l="l"/>
              <a:pathLst>
                <a:path h="415716" w="200567">
                  <a:moveTo>
                    <a:pt x="100284" y="0"/>
                  </a:moveTo>
                  <a:lnTo>
                    <a:pt x="100284" y="0"/>
                  </a:lnTo>
                  <a:cubicBezTo>
                    <a:pt x="155669" y="0"/>
                    <a:pt x="200567" y="44898"/>
                    <a:pt x="200567" y="100284"/>
                  </a:cubicBezTo>
                  <a:lnTo>
                    <a:pt x="200567" y="315433"/>
                  </a:lnTo>
                  <a:cubicBezTo>
                    <a:pt x="200567" y="342029"/>
                    <a:pt x="190002" y="367537"/>
                    <a:pt x="171195" y="386344"/>
                  </a:cubicBezTo>
                  <a:cubicBezTo>
                    <a:pt x="152388" y="405151"/>
                    <a:pt x="126880" y="415716"/>
                    <a:pt x="100284" y="415716"/>
                  </a:cubicBezTo>
                  <a:lnTo>
                    <a:pt x="100284" y="415716"/>
                  </a:lnTo>
                  <a:cubicBezTo>
                    <a:pt x="73687" y="415716"/>
                    <a:pt x="48179" y="405151"/>
                    <a:pt x="29372" y="386344"/>
                  </a:cubicBezTo>
                  <a:cubicBezTo>
                    <a:pt x="10566" y="367537"/>
                    <a:pt x="0" y="342029"/>
                    <a:pt x="0" y="315433"/>
                  </a:cubicBezTo>
                  <a:lnTo>
                    <a:pt x="0" y="100284"/>
                  </a:lnTo>
                  <a:cubicBezTo>
                    <a:pt x="0" y="73687"/>
                    <a:pt x="10566" y="48179"/>
                    <a:pt x="29372" y="29372"/>
                  </a:cubicBezTo>
                  <a:cubicBezTo>
                    <a:pt x="48179" y="10566"/>
                    <a:pt x="73687" y="0"/>
                    <a:pt x="100284" y="0"/>
                  </a:cubicBezTo>
                  <a:close/>
                </a:path>
              </a:pathLst>
            </a:custGeom>
            <a:solidFill>
              <a:srgbClr val="272727"/>
            </a:solidFill>
            <a:ln w="47625" cap="rnd">
              <a:solidFill>
                <a:srgbClr val="FFF559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0567" cy="46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C34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1212" y="3424628"/>
            <a:ext cx="3985367" cy="1810535"/>
            <a:chOff x="0" y="0"/>
            <a:chExt cx="5313822" cy="241404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313822" cy="2414047"/>
              <a:chOff x="0" y="0"/>
              <a:chExt cx="1049644" cy="47684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49644" cy="476849"/>
              </a:xfrm>
              <a:custGeom>
                <a:avLst/>
                <a:gdLst/>
                <a:ahLst/>
                <a:cxnLst/>
                <a:rect r="r" b="b" t="t" l="l"/>
                <a:pathLst>
                  <a:path h="476849" w="1049644">
                    <a:moveTo>
                      <a:pt x="48565" y="0"/>
                    </a:moveTo>
                    <a:lnTo>
                      <a:pt x="1001079" y="0"/>
                    </a:lnTo>
                    <a:cubicBezTo>
                      <a:pt x="1027901" y="0"/>
                      <a:pt x="1049644" y="21743"/>
                      <a:pt x="1049644" y="48565"/>
                    </a:cubicBezTo>
                    <a:lnTo>
                      <a:pt x="1049644" y="428284"/>
                    </a:lnTo>
                    <a:cubicBezTo>
                      <a:pt x="1049644" y="455106"/>
                      <a:pt x="1027901" y="476849"/>
                      <a:pt x="1001079" y="476849"/>
                    </a:cubicBezTo>
                    <a:lnTo>
                      <a:pt x="48565" y="476849"/>
                    </a:lnTo>
                    <a:cubicBezTo>
                      <a:pt x="21743" y="476849"/>
                      <a:pt x="0" y="455106"/>
                      <a:pt x="0" y="428284"/>
                    </a:cubicBezTo>
                    <a:lnTo>
                      <a:pt x="0" y="48565"/>
                    </a:lnTo>
                    <a:cubicBezTo>
                      <a:pt x="0" y="21743"/>
                      <a:pt x="21743" y="0"/>
                      <a:pt x="48565" y="0"/>
                    </a:cubicBezTo>
                    <a:close/>
                  </a:path>
                </a:pathLst>
              </a:custGeom>
              <a:solidFill>
                <a:srgbClr val="FFF55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66675"/>
                <a:ext cx="1049644" cy="5435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37053" y="527362"/>
              <a:ext cx="4439716" cy="1292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72727"/>
                  </a:solidFill>
                  <a:latin typeface="Quicksand"/>
                  <a:ea typeface="Quicksand"/>
                  <a:cs typeface="Quicksand"/>
                  <a:sym typeface="Quicksand"/>
                </a:rPr>
                <a:t> Top-Level Module: cpu_top.v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89918" y="6248565"/>
            <a:ext cx="3985367" cy="2801135"/>
            <a:chOff x="0" y="0"/>
            <a:chExt cx="5313822" cy="37348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313822" cy="3734847"/>
              <a:chOff x="0" y="0"/>
              <a:chExt cx="1049644" cy="73774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49644" cy="737748"/>
              </a:xfrm>
              <a:custGeom>
                <a:avLst/>
                <a:gdLst/>
                <a:ahLst/>
                <a:cxnLst/>
                <a:rect r="r" b="b" t="t" l="l"/>
                <a:pathLst>
                  <a:path h="737748" w="1049644">
                    <a:moveTo>
                      <a:pt x="48565" y="0"/>
                    </a:moveTo>
                    <a:lnTo>
                      <a:pt x="1001079" y="0"/>
                    </a:lnTo>
                    <a:cubicBezTo>
                      <a:pt x="1027901" y="0"/>
                      <a:pt x="1049644" y="21743"/>
                      <a:pt x="1049644" y="48565"/>
                    </a:cubicBezTo>
                    <a:lnTo>
                      <a:pt x="1049644" y="689183"/>
                    </a:lnTo>
                    <a:cubicBezTo>
                      <a:pt x="1049644" y="716004"/>
                      <a:pt x="1027901" y="737748"/>
                      <a:pt x="1001079" y="737748"/>
                    </a:cubicBezTo>
                    <a:lnTo>
                      <a:pt x="48565" y="737748"/>
                    </a:lnTo>
                    <a:cubicBezTo>
                      <a:pt x="21743" y="737748"/>
                      <a:pt x="0" y="716004"/>
                      <a:pt x="0" y="689183"/>
                    </a:cubicBezTo>
                    <a:lnTo>
                      <a:pt x="0" y="48565"/>
                    </a:lnTo>
                    <a:cubicBezTo>
                      <a:pt x="0" y="21743"/>
                      <a:pt x="21743" y="0"/>
                      <a:pt x="48565" y="0"/>
                    </a:cubicBezTo>
                    <a:close/>
                  </a:path>
                </a:pathLst>
              </a:custGeom>
              <a:solidFill>
                <a:srgbClr val="FFF55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1049644" cy="804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7053" y="527362"/>
              <a:ext cx="4439716" cy="2613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72727"/>
                  </a:solidFill>
                  <a:latin typeface="Quicksand"/>
                  <a:ea typeface="Quicksand"/>
                  <a:cs typeface="Quicksand"/>
                  <a:sym typeface="Quicksand"/>
                </a:rPr>
                <a:t> Interconnections: ALU → Register File → Memory → Branch Logic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96048" y="3122082"/>
            <a:ext cx="3985367" cy="2801135"/>
            <a:chOff x="0" y="0"/>
            <a:chExt cx="5313822" cy="373484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313822" cy="3734847"/>
              <a:chOff x="0" y="0"/>
              <a:chExt cx="1049644" cy="73774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9644" cy="737748"/>
              </a:xfrm>
              <a:custGeom>
                <a:avLst/>
                <a:gdLst/>
                <a:ahLst/>
                <a:cxnLst/>
                <a:rect r="r" b="b" t="t" l="l"/>
                <a:pathLst>
                  <a:path h="737748" w="1049644">
                    <a:moveTo>
                      <a:pt x="48565" y="0"/>
                    </a:moveTo>
                    <a:lnTo>
                      <a:pt x="1001079" y="0"/>
                    </a:lnTo>
                    <a:cubicBezTo>
                      <a:pt x="1027901" y="0"/>
                      <a:pt x="1049644" y="21743"/>
                      <a:pt x="1049644" y="48565"/>
                    </a:cubicBezTo>
                    <a:lnTo>
                      <a:pt x="1049644" y="689183"/>
                    </a:lnTo>
                    <a:cubicBezTo>
                      <a:pt x="1049644" y="716004"/>
                      <a:pt x="1027901" y="737748"/>
                      <a:pt x="1001079" y="737748"/>
                    </a:cubicBezTo>
                    <a:lnTo>
                      <a:pt x="48565" y="737748"/>
                    </a:lnTo>
                    <a:cubicBezTo>
                      <a:pt x="21743" y="737748"/>
                      <a:pt x="0" y="716004"/>
                      <a:pt x="0" y="689183"/>
                    </a:cubicBezTo>
                    <a:lnTo>
                      <a:pt x="0" y="48565"/>
                    </a:lnTo>
                    <a:cubicBezTo>
                      <a:pt x="0" y="21743"/>
                      <a:pt x="21743" y="0"/>
                      <a:pt x="48565" y="0"/>
                    </a:cubicBezTo>
                    <a:close/>
                  </a:path>
                </a:pathLst>
              </a:custGeom>
              <a:solidFill>
                <a:srgbClr val="FFF55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1049644" cy="804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7053" y="527362"/>
              <a:ext cx="4439716" cy="2613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72727"/>
                  </a:solidFill>
                  <a:latin typeface="Quicksand"/>
                  <a:ea typeface="Quicksand"/>
                  <a:cs typeface="Quicksand"/>
                  <a:sym typeface="Quicksand"/>
                </a:rPr>
                <a:t> Immediate Generation: Handled by ImmGen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52130" y="618550"/>
            <a:ext cx="749187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177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 CPU Implementation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503365" y="6743865"/>
            <a:ext cx="3985367" cy="2305835"/>
            <a:chOff x="0" y="0"/>
            <a:chExt cx="5313822" cy="307444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313822" cy="3074447"/>
              <a:chOff x="0" y="0"/>
              <a:chExt cx="1049644" cy="60729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9644" cy="607298"/>
              </a:xfrm>
              <a:custGeom>
                <a:avLst/>
                <a:gdLst/>
                <a:ahLst/>
                <a:cxnLst/>
                <a:rect r="r" b="b" t="t" l="l"/>
                <a:pathLst>
                  <a:path h="607298" w="1049644">
                    <a:moveTo>
                      <a:pt x="48565" y="0"/>
                    </a:moveTo>
                    <a:lnTo>
                      <a:pt x="1001079" y="0"/>
                    </a:lnTo>
                    <a:cubicBezTo>
                      <a:pt x="1027901" y="0"/>
                      <a:pt x="1049644" y="21743"/>
                      <a:pt x="1049644" y="48565"/>
                    </a:cubicBezTo>
                    <a:lnTo>
                      <a:pt x="1049644" y="558734"/>
                    </a:lnTo>
                    <a:cubicBezTo>
                      <a:pt x="1049644" y="585555"/>
                      <a:pt x="1027901" y="607298"/>
                      <a:pt x="1001079" y="607298"/>
                    </a:cubicBezTo>
                    <a:lnTo>
                      <a:pt x="48565" y="607298"/>
                    </a:lnTo>
                    <a:cubicBezTo>
                      <a:pt x="21743" y="607298"/>
                      <a:pt x="0" y="585555"/>
                      <a:pt x="0" y="558734"/>
                    </a:cubicBezTo>
                    <a:lnTo>
                      <a:pt x="0" y="48565"/>
                    </a:lnTo>
                    <a:cubicBezTo>
                      <a:pt x="0" y="21743"/>
                      <a:pt x="21743" y="0"/>
                      <a:pt x="48565" y="0"/>
                    </a:cubicBezTo>
                    <a:close/>
                  </a:path>
                </a:pathLst>
              </a:custGeom>
              <a:solidFill>
                <a:srgbClr val="FFF55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1049644" cy="6739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37053" y="527362"/>
              <a:ext cx="4439716" cy="1953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72727"/>
                  </a:solidFill>
                  <a:latin typeface="Quicksand"/>
                  <a:ea typeface="Quicksand"/>
                  <a:cs typeface="Quicksand"/>
                  <a:sym typeface="Quicksand"/>
                </a:rPr>
                <a:t>  Simulation: Tested with testbench cpu_top_tb.v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C34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25316" y="2522591"/>
            <a:ext cx="5532090" cy="19050"/>
          </a:xfrm>
          <a:prstGeom prst="line">
            <a:avLst/>
          </a:prstGeom>
          <a:ln cap="flat" w="38100">
            <a:solidFill>
              <a:srgbClr val="FFF5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25316" y="674741"/>
            <a:ext cx="553209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 spc="-170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  Pipeline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5316" y="3423327"/>
            <a:ext cx="6241545" cy="3440345"/>
            <a:chOff x="0" y="0"/>
            <a:chExt cx="4832507" cy="2663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32507" cy="2663683"/>
            </a:xfrm>
            <a:custGeom>
              <a:avLst/>
              <a:gdLst/>
              <a:ahLst/>
              <a:cxnLst/>
              <a:rect r="r" b="b" t="t" l="l"/>
              <a:pathLst>
                <a:path h="2663683" w="4832507">
                  <a:moveTo>
                    <a:pt x="4708047" y="2663682"/>
                  </a:moveTo>
                  <a:lnTo>
                    <a:pt x="124460" y="2663682"/>
                  </a:lnTo>
                  <a:cubicBezTo>
                    <a:pt x="55880" y="2663682"/>
                    <a:pt x="0" y="2607802"/>
                    <a:pt x="0" y="253922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708047" y="0"/>
                  </a:lnTo>
                  <a:cubicBezTo>
                    <a:pt x="4776627" y="0"/>
                    <a:pt x="4832507" y="55880"/>
                    <a:pt x="4832507" y="124460"/>
                  </a:cubicBezTo>
                  <a:lnTo>
                    <a:pt x="4832507" y="2539223"/>
                  </a:lnTo>
                  <a:cubicBezTo>
                    <a:pt x="4832507" y="2607802"/>
                    <a:pt x="4776627" y="2663683"/>
                    <a:pt x="4708047" y="2663683"/>
                  </a:cubicBezTo>
                  <a:close/>
                </a:path>
              </a:pathLst>
            </a:custGeom>
            <a:solidFill>
              <a:srgbClr val="FFF55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478" y="3712527"/>
            <a:ext cx="5691222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 A technique to improve CPU performance by executing multiple instructions simultaneously in different stages.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61744" y="674690"/>
            <a:ext cx="8357850" cy="7654615"/>
            <a:chOff x="0" y="0"/>
            <a:chExt cx="6471053" cy="59265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1053" cy="5926574"/>
            </a:xfrm>
            <a:custGeom>
              <a:avLst/>
              <a:gdLst/>
              <a:ahLst/>
              <a:cxnLst/>
              <a:rect r="r" b="b" t="t" l="l"/>
              <a:pathLst>
                <a:path h="5926574" w="6471053">
                  <a:moveTo>
                    <a:pt x="6346593" y="5926574"/>
                  </a:moveTo>
                  <a:lnTo>
                    <a:pt x="124460" y="5926574"/>
                  </a:lnTo>
                  <a:cubicBezTo>
                    <a:pt x="55880" y="5926574"/>
                    <a:pt x="0" y="5870694"/>
                    <a:pt x="0" y="580211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46594" y="0"/>
                  </a:lnTo>
                  <a:cubicBezTo>
                    <a:pt x="6415174" y="0"/>
                    <a:pt x="6471053" y="55880"/>
                    <a:pt x="6471053" y="124460"/>
                  </a:cubicBezTo>
                  <a:lnTo>
                    <a:pt x="6471053" y="5802114"/>
                  </a:lnTo>
                  <a:cubicBezTo>
                    <a:pt x="6471053" y="5870694"/>
                    <a:pt x="6415174" y="5926574"/>
                    <a:pt x="6346594" y="5926574"/>
                  </a:cubicBezTo>
                  <a:close/>
                </a:path>
              </a:pathLst>
            </a:custGeom>
            <a:solidFill>
              <a:srgbClr val="FFF55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66958" y="971550"/>
            <a:ext cx="6883287" cy="72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Stages Implemented in Our CPU:</a:t>
            </a:r>
          </a:p>
          <a:p>
            <a:pPr algn="ctr">
              <a:lnSpc>
                <a:spcPts val="4059"/>
              </a:lnSpc>
            </a:pPr>
          </a:p>
          <a:p>
            <a:pPr algn="ctr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IF – Instruction Fetch: Read instruction from memory using PC</a:t>
            </a:r>
          </a:p>
          <a:p>
            <a:pPr algn="ctr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ID – Instruction Decode: Decode instruction, read registers, generate immediate</a:t>
            </a:r>
          </a:p>
          <a:p>
            <a:pPr algn="ctr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EX – Execute: ALU performs arithmetic/logic operations</a:t>
            </a:r>
          </a:p>
          <a:p>
            <a:pPr algn="ctr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MEM – Memory Access: Read/write from/to data memory if needed</a:t>
            </a:r>
          </a:p>
          <a:p>
            <a:pPr algn="ctr" marL="647698" indent="-323849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WB – Write Back: Write result back to register file</a:t>
            </a:r>
          </a:p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59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7012" y="655454"/>
            <a:ext cx="7000610" cy="6038850"/>
            <a:chOff x="0" y="0"/>
            <a:chExt cx="9334146" cy="8051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334146" cy="8051800"/>
              <a:chOff x="0" y="0"/>
              <a:chExt cx="5420212" cy="46755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420212" cy="4675571"/>
              </a:xfrm>
              <a:custGeom>
                <a:avLst/>
                <a:gdLst/>
                <a:ahLst/>
                <a:cxnLst/>
                <a:rect r="r" b="b" t="t" l="l"/>
                <a:pathLst>
                  <a:path h="4675571" w="5420212">
                    <a:moveTo>
                      <a:pt x="5295752" y="4675571"/>
                    </a:moveTo>
                    <a:lnTo>
                      <a:pt x="124460" y="4675571"/>
                    </a:lnTo>
                    <a:cubicBezTo>
                      <a:pt x="55880" y="4675571"/>
                      <a:pt x="0" y="4619691"/>
                      <a:pt x="0" y="455111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295752" y="0"/>
                    </a:lnTo>
                    <a:cubicBezTo>
                      <a:pt x="5364332" y="0"/>
                      <a:pt x="5420212" y="55880"/>
                      <a:pt x="5420212" y="124460"/>
                    </a:cubicBezTo>
                    <a:lnTo>
                      <a:pt x="5420212" y="4551111"/>
                    </a:lnTo>
                    <a:cubicBezTo>
                      <a:pt x="5420212" y="4619691"/>
                      <a:pt x="5364332" y="4675571"/>
                      <a:pt x="5295752" y="4675571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623125" y="494030"/>
              <a:ext cx="7968186" cy="7044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 Top-Level Integration</a:t>
              </a:r>
            </a:p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Challenge: Connecting all modules without errors</a:t>
              </a:r>
            </a:p>
            <a:p>
              <a:pPr algn="l">
                <a:lnSpc>
                  <a:spcPts val="4680"/>
                </a:lnSpc>
              </a:pPr>
            </a:p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Solution: Integrated and tested step by step, starting from ALU → Register File → Memory → Control → CPU top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4906" y="3674879"/>
            <a:ext cx="7000610" cy="6039018"/>
            <a:chOff x="0" y="0"/>
            <a:chExt cx="9334146" cy="805202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334146" cy="8052024"/>
              <a:chOff x="0" y="0"/>
              <a:chExt cx="5420212" cy="467570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20212" cy="4675701"/>
              </a:xfrm>
              <a:custGeom>
                <a:avLst/>
                <a:gdLst/>
                <a:ahLst/>
                <a:cxnLst/>
                <a:rect r="r" b="b" t="t" l="l"/>
                <a:pathLst>
                  <a:path h="4675701" w="5420212">
                    <a:moveTo>
                      <a:pt x="5295752" y="4675701"/>
                    </a:moveTo>
                    <a:lnTo>
                      <a:pt x="124460" y="4675701"/>
                    </a:lnTo>
                    <a:cubicBezTo>
                      <a:pt x="55880" y="4675701"/>
                      <a:pt x="0" y="4619821"/>
                      <a:pt x="0" y="455124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295752" y="0"/>
                    </a:lnTo>
                    <a:cubicBezTo>
                      <a:pt x="5364332" y="0"/>
                      <a:pt x="5420212" y="55880"/>
                      <a:pt x="5420212" y="124460"/>
                    </a:cubicBezTo>
                    <a:lnTo>
                      <a:pt x="5420212" y="4551241"/>
                    </a:lnTo>
                    <a:cubicBezTo>
                      <a:pt x="5420212" y="4619821"/>
                      <a:pt x="5364332" y="4675701"/>
                      <a:pt x="5295752" y="4675701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682980" y="494142"/>
              <a:ext cx="7968186" cy="7044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 Immediate Generation</a:t>
              </a:r>
            </a:p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Challenge: Handling different instruction formats (I, S, B types)</a:t>
              </a:r>
            </a:p>
            <a:p>
              <a:pPr algn="l">
                <a:lnSpc>
                  <a:spcPts val="4680"/>
                </a:lnSpc>
              </a:pPr>
            </a:p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559"/>
                  </a:solidFill>
                  <a:latin typeface="Quicksand"/>
                  <a:ea typeface="Quicksand"/>
                  <a:cs typeface="Quicksand"/>
                  <a:sym typeface="Quicksand"/>
                </a:rPr>
                <a:t>Solution: Used a dedicated ImmGen module to extract and sign-extend immediates correctly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5038" y="655454"/>
            <a:ext cx="668718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Challenges &amp; Solutions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4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4582" y="3343275"/>
            <a:ext cx="14202758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78"/>
              </a:lnSpc>
              <a:spcBef>
                <a:spcPct val="0"/>
              </a:spcBef>
            </a:pPr>
            <a:r>
              <a:rPr lang="en-US" sz="11899" spc="-297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95478" y="6577346"/>
            <a:ext cx="4762500" cy="2848718"/>
          </a:xfrm>
          <a:custGeom>
            <a:avLst/>
            <a:gdLst/>
            <a:ahLst/>
            <a:cxnLst/>
            <a:rect r="r" b="b" t="t" l="l"/>
            <a:pathLst>
              <a:path h="2848718" w="4762500">
                <a:moveTo>
                  <a:pt x="0" y="0"/>
                </a:moveTo>
                <a:lnTo>
                  <a:pt x="4762500" y="0"/>
                </a:lnTo>
                <a:lnTo>
                  <a:pt x="4762500" y="2848718"/>
                </a:lnTo>
                <a:lnTo>
                  <a:pt x="0" y="284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8812" y="5311264"/>
            <a:ext cx="5362073" cy="3782699"/>
          </a:xfrm>
          <a:custGeom>
            <a:avLst/>
            <a:gdLst/>
            <a:ahLst/>
            <a:cxnLst/>
            <a:rect r="r" b="b" t="t" l="l"/>
            <a:pathLst>
              <a:path h="3782699" w="5362073">
                <a:moveTo>
                  <a:pt x="0" y="0"/>
                </a:moveTo>
                <a:lnTo>
                  <a:pt x="5362073" y="0"/>
                </a:lnTo>
                <a:lnTo>
                  <a:pt x="5362073" y="3782698"/>
                </a:lnTo>
                <a:lnTo>
                  <a:pt x="0" y="3782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DAG81erUPJA</dc:identifier>
  <dcterms:modified xsi:type="dcterms:W3CDTF">2011-08-01T06:04:30Z</dcterms:modified>
  <cp:revision>1</cp:revision>
  <dc:title>Introduction to the CPU Presentation in Colourful Retro Style</dc:title>
</cp:coreProperties>
</file>